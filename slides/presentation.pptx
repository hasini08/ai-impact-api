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-1" y="0"/>
            <a:ext cx="164594" cy="51435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Shape 1"/>
          <p:cNvSpPr/>
          <p:nvPr/>
        </p:nvSpPr>
        <p:spPr>
          <a:xfrm>
            <a:off x="7772400" y="0"/>
            <a:ext cx="1371600" cy="13716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" name="Shape 2"/>
          <p:cNvSpPr/>
          <p:nvPr/>
        </p:nvSpPr>
        <p:spPr>
          <a:xfrm>
            <a:off x="7955280" y="137159"/>
            <a:ext cx="1097281" cy="1097282"/>
          </a:xfrm>
          <a:prstGeom prst="ellipse">
            <a:avLst/>
          </a:prstGeom>
          <a:solidFill>
            <a:srgbClr val="0F7173">
              <a:alpha val="40000"/>
            </a:srgbClr>
          </a:solidFill>
          <a:ln w="12700">
            <a:solidFill>
              <a:srgbClr val="0F71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" name="Text 3"/>
          <p:cNvSpPr txBox="1"/>
          <p:nvPr/>
        </p:nvSpPr>
        <p:spPr>
          <a:xfrm>
            <a:off x="411480" y="881340"/>
            <a:ext cx="7772401" cy="6147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800">
                <a:solidFill>
                  <a:srgbClr val="FFFFFF"/>
                </a:solidFill>
              </a:defRPr>
            </a:lvl1pPr>
          </a:lstStyle>
          <a:p>
            <a:pPr/>
            <a:r>
              <a:t>AI Impact Claims API</a:t>
            </a:r>
          </a:p>
        </p:txBody>
      </p:sp>
      <p:sp>
        <p:nvSpPr>
          <p:cNvPr id="24" name="Text 4"/>
          <p:cNvSpPr txBox="1"/>
          <p:nvPr/>
        </p:nvSpPr>
        <p:spPr>
          <a:xfrm>
            <a:off x="411480" y="1907103"/>
            <a:ext cx="6858001" cy="209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600">
                <a:solidFill>
                  <a:srgbClr val="5EEAD4"/>
                </a:solidFill>
              </a:defRPr>
            </a:lvl1pPr>
          </a:lstStyle>
          <a:p>
            <a:pPr/>
            <a:r>
              <a:t>A data-driven FastAPI exploring AI's effect on jobs, creativity &amp; the environment</a:t>
            </a:r>
          </a:p>
        </p:txBody>
      </p:sp>
      <p:sp>
        <p:nvSpPr>
          <p:cNvPr id="25" name="Shape 5"/>
          <p:cNvSpPr/>
          <p:nvPr/>
        </p:nvSpPr>
        <p:spPr>
          <a:xfrm>
            <a:off x="411480" y="2560320"/>
            <a:ext cx="1828801" cy="411481"/>
          </a:xfrm>
          <a:prstGeom prst="roundRect">
            <a:avLst>
              <a:gd name="adj" fmla="val 22222"/>
            </a:avLst>
          </a:prstGeom>
          <a:solidFill>
            <a:srgbClr val="0F7173"/>
          </a:solidFill>
          <a:ln w="12700">
            <a:solidFill>
              <a:srgbClr val="0F71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" name="Text 6"/>
          <p:cNvSpPr txBox="1"/>
          <p:nvPr/>
        </p:nvSpPr>
        <p:spPr>
          <a:xfrm>
            <a:off x="411480" y="2632710"/>
            <a:ext cx="18288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💼 Jobs</a:t>
            </a:r>
          </a:p>
        </p:txBody>
      </p:sp>
      <p:sp>
        <p:nvSpPr>
          <p:cNvPr id="27" name="Shape 7"/>
          <p:cNvSpPr/>
          <p:nvPr/>
        </p:nvSpPr>
        <p:spPr>
          <a:xfrm>
            <a:off x="2423160" y="2560320"/>
            <a:ext cx="1828801" cy="411481"/>
          </a:xfrm>
          <a:prstGeom prst="roundRect">
            <a:avLst>
              <a:gd name="adj" fmla="val 22222"/>
            </a:avLst>
          </a:prstGeom>
          <a:solidFill>
            <a:srgbClr val="1B3A5C"/>
          </a:solidFill>
          <a:ln w="12700">
            <a:solidFill>
              <a:srgbClr val="0F71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" name="Text 8"/>
          <p:cNvSpPr txBox="1"/>
          <p:nvPr/>
        </p:nvSpPr>
        <p:spPr>
          <a:xfrm>
            <a:off x="2423160" y="2632710"/>
            <a:ext cx="18288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🎨 Creativity</a:t>
            </a:r>
          </a:p>
        </p:txBody>
      </p:sp>
      <p:sp>
        <p:nvSpPr>
          <p:cNvPr id="29" name="Shape 9"/>
          <p:cNvSpPr/>
          <p:nvPr/>
        </p:nvSpPr>
        <p:spPr>
          <a:xfrm>
            <a:off x="4434840" y="2560320"/>
            <a:ext cx="1828801" cy="411481"/>
          </a:xfrm>
          <a:prstGeom prst="roundRect">
            <a:avLst>
              <a:gd name="adj" fmla="val 22222"/>
            </a:avLst>
          </a:prstGeom>
          <a:solidFill>
            <a:srgbClr val="1B3A5C"/>
          </a:solidFill>
          <a:ln w="12700">
            <a:solidFill>
              <a:srgbClr val="0F71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" name="Text 10"/>
          <p:cNvSpPr txBox="1"/>
          <p:nvPr/>
        </p:nvSpPr>
        <p:spPr>
          <a:xfrm>
            <a:off x="4434840" y="2632710"/>
            <a:ext cx="182880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300">
                <a:solidFill>
                  <a:srgbClr val="FFFFFF"/>
                </a:solidFill>
              </a:defRPr>
            </a:lvl1pPr>
          </a:lstStyle>
          <a:p>
            <a:pPr/>
            <a:r>
              <a:t>🌿 Environment</a:t>
            </a:r>
          </a:p>
        </p:txBody>
      </p:sp>
      <p:sp>
        <p:nvSpPr>
          <p:cNvPr id="31" name="Shape 11"/>
          <p:cNvSpPr/>
          <p:nvPr/>
        </p:nvSpPr>
        <p:spPr>
          <a:xfrm>
            <a:off x="411479" y="3200399"/>
            <a:ext cx="8321042" cy="1829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2" name="Text 12"/>
          <p:cNvSpPr txBox="1"/>
          <p:nvPr/>
        </p:nvSpPr>
        <p:spPr>
          <a:xfrm>
            <a:off x="514948" y="3415863"/>
            <a:ext cx="832104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300">
                <a:solidFill>
                  <a:srgbClr val="5EEAD4"/>
                </a:solidFill>
              </a:defRPr>
            </a:pPr>
            <a:r>
              <a:t>COMP3011 Web Services &amp; Web Data  </a:t>
            </a:r>
            <a:r>
              <a:rPr>
                <a:solidFill>
                  <a:srgbClr val="64748B"/>
                </a:solidFill>
              </a:rPr>
              <a:t>|  </a:t>
            </a:r>
            <a:r>
              <a:rPr>
                <a:solidFill>
                  <a:srgbClr val="CBD5E1"/>
                </a:solidFill>
              </a:rPr>
              <a:t>Coursework 1  </a:t>
            </a:r>
            <a:r>
              <a:rPr>
                <a:solidFill>
                  <a:srgbClr val="64748B"/>
                </a:solidFill>
              </a:rPr>
              <a:t>|  </a:t>
            </a:r>
            <a:r>
              <a:rPr>
                <a:solidFill>
                  <a:srgbClr val="F59E0B"/>
                </a:solidFill>
              </a:rPr>
              <a:t>GitHub: hasini08/ai-impact-api</a:t>
            </a:r>
          </a:p>
        </p:txBody>
      </p:sp>
      <p:sp>
        <p:nvSpPr>
          <p:cNvPr id="33" name="Text 13"/>
          <p:cNvSpPr txBox="1"/>
          <p:nvPr/>
        </p:nvSpPr>
        <p:spPr>
          <a:xfrm>
            <a:off x="411479" y="4493567"/>
            <a:ext cx="832104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/>
            <a:r>
              <a:t>Hasini Yahampath ·  201710174 ·  20 March 2026</a:t>
            </a:r>
          </a:p>
        </p:txBody>
      </p:sp>
      <p:sp>
        <p:nvSpPr>
          <p:cNvPr id="34" name="Text 14"/>
          <p:cNvSpPr txBox="1"/>
          <p:nvPr/>
        </p:nvSpPr>
        <p:spPr>
          <a:xfrm>
            <a:off x="6400800" y="4504866"/>
            <a:ext cx="22860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0F7173"/>
                </a:solidFill>
              </a:defRPr>
            </a:lvl1pPr>
          </a:lstStyle>
          <a:p>
            <a:pPr/>
            <a:r>
              <a:t>5 min presentation + 5 min Q&amp;A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7" name="Shape 1"/>
          <p:cNvSpPr/>
          <p:nvPr/>
        </p:nvSpPr>
        <p:spPr>
          <a:xfrm>
            <a:off x="-1" y="0"/>
            <a:ext cx="164594" cy="51435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" name="Text 2"/>
          <p:cNvSpPr txBox="1"/>
          <p:nvPr/>
        </p:nvSpPr>
        <p:spPr>
          <a:xfrm>
            <a:off x="320040" y="195932"/>
            <a:ext cx="7315201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Problem &amp; Project Goal</a:t>
            </a:r>
          </a:p>
        </p:txBody>
      </p:sp>
      <p:sp>
        <p:nvSpPr>
          <p:cNvPr id="39" name="Text 3"/>
          <p:cNvSpPr txBox="1"/>
          <p:nvPr/>
        </p:nvSpPr>
        <p:spPr>
          <a:xfrm>
            <a:off x="7772400" y="275766"/>
            <a:ext cx="118872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5EEAD4"/>
                </a:solidFill>
              </a:defRPr>
            </a:lvl1pPr>
          </a:lstStyle>
          <a:p>
            <a:pPr/>
            <a:r>
              <a:t>Slide 2 / 7</a:t>
            </a:r>
          </a:p>
        </p:txBody>
      </p:sp>
      <p:sp>
        <p:nvSpPr>
          <p:cNvPr id="40" name="Shape 4"/>
          <p:cNvSpPr/>
          <p:nvPr/>
        </p:nvSpPr>
        <p:spPr>
          <a:xfrm>
            <a:off x="320040" y="868680"/>
            <a:ext cx="2743201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1" name="Shape 5"/>
          <p:cNvSpPr/>
          <p:nvPr/>
        </p:nvSpPr>
        <p:spPr>
          <a:xfrm>
            <a:off x="320040" y="868680"/>
            <a:ext cx="2743201" cy="109729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" name="Text 6"/>
          <p:cNvSpPr txBox="1"/>
          <p:nvPr/>
        </p:nvSpPr>
        <p:spPr>
          <a:xfrm>
            <a:off x="457199" y="1064767"/>
            <a:ext cx="2468882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0D1B2A"/>
                </a:solidFill>
              </a:defRPr>
            </a:lvl1pPr>
          </a:lstStyle>
          <a:p>
            <a:pPr/>
            <a:r>
              <a:t>💼  Jobs</a:t>
            </a:r>
          </a:p>
        </p:txBody>
      </p:sp>
      <p:sp>
        <p:nvSpPr>
          <p:cNvPr id="43" name="Text 7"/>
          <p:cNvSpPr txBox="1"/>
          <p:nvPr/>
        </p:nvSpPr>
        <p:spPr>
          <a:xfrm>
            <a:off x="457199" y="1806755"/>
            <a:ext cx="2468882" cy="537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/>
            <a:r>
              <a:t>Track structured claims about automation, displacement, and changing labour demand.</a:t>
            </a:r>
          </a:p>
        </p:txBody>
      </p:sp>
      <p:sp>
        <p:nvSpPr>
          <p:cNvPr id="44" name="Shape 8"/>
          <p:cNvSpPr/>
          <p:nvPr/>
        </p:nvSpPr>
        <p:spPr>
          <a:xfrm>
            <a:off x="3200400" y="868680"/>
            <a:ext cx="274320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5" name="Shape 9"/>
          <p:cNvSpPr/>
          <p:nvPr/>
        </p:nvSpPr>
        <p:spPr>
          <a:xfrm>
            <a:off x="3200400" y="868680"/>
            <a:ext cx="2743200" cy="109729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6" name="Text 10"/>
          <p:cNvSpPr txBox="1"/>
          <p:nvPr/>
        </p:nvSpPr>
        <p:spPr>
          <a:xfrm>
            <a:off x="3337559" y="1064767"/>
            <a:ext cx="246888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0D1B2A"/>
                </a:solidFill>
              </a:defRPr>
            </a:lvl1pPr>
          </a:lstStyle>
          <a:p>
            <a:pPr/>
            <a:r>
              <a:t>🎨  Creativity</a:t>
            </a:r>
          </a:p>
        </p:txBody>
      </p:sp>
      <p:sp>
        <p:nvSpPr>
          <p:cNvPr id="47" name="Text 11"/>
          <p:cNvSpPr txBox="1"/>
          <p:nvPr/>
        </p:nvSpPr>
        <p:spPr>
          <a:xfrm>
            <a:off x="3337559" y="1902005"/>
            <a:ext cx="2468881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/>
            <a:r>
              <a:t>Capture arguments about AI supporting vs. substituting creative work.</a:t>
            </a:r>
          </a:p>
        </p:txBody>
      </p:sp>
      <p:sp>
        <p:nvSpPr>
          <p:cNvPr id="48" name="Shape 12"/>
          <p:cNvSpPr/>
          <p:nvPr/>
        </p:nvSpPr>
        <p:spPr>
          <a:xfrm>
            <a:off x="6080759" y="868680"/>
            <a:ext cx="2743201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49" name="Shape 13"/>
          <p:cNvSpPr/>
          <p:nvPr/>
        </p:nvSpPr>
        <p:spPr>
          <a:xfrm>
            <a:off x="6080759" y="868680"/>
            <a:ext cx="2743201" cy="109729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" name="Text 14"/>
          <p:cNvSpPr txBox="1"/>
          <p:nvPr/>
        </p:nvSpPr>
        <p:spPr>
          <a:xfrm>
            <a:off x="6217920" y="1064767"/>
            <a:ext cx="2468881" cy="330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0D1B2A"/>
                </a:solidFill>
              </a:defRPr>
            </a:lvl1pPr>
          </a:lstStyle>
          <a:p>
            <a:pPr/>
            <a:r>
              <a:t>🌿  Environment</a:t>
            </a:r>
          </a:p>
        </p:txBody>
      </p:sp>
      <p:sp>
        <p:nvSpPr>
          <p:cNvPr id="51" name="Text 15"/>
          <p:cNvSpPr txBox="1"/>
          <p:nvPr/>
        </p:nvSpPr>
        <p:spPr>
          <a:xfrm>
            <a:off x="6217920" y="1902005"/>
            <a:ext cx="2468881" cy="347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/>
            <a:r>
              <a:t>Connect AI discourse to sustainability &amp; carbon footprint concerns.</a:t>
            </a:r>
          </a:p>
        </p:txBody>
      </p:sp>
      <p:sp>
        <p:nvSpPr>
          <p:cNvPr id="52" name="Shape 16"/>
          <p:cNvSpPr/>
          <p:nvPr/>
        </p:nvSpPr>
        <p:spPr>
          <a:xfrm>
            <a:off x="320040" y="2926079"/>
            <a:ext cx="8503920" cy="1417321"/>
          </a:xfrm>
          <a:prstGeom prst="rect">
            <a:avLst/>
          </a:prstGeom>
          <a:solidFill>
            <a:srgbClr val="1B3A5C"/>
          </a:solidFill>
          <a:ln w="12700">
            <a:solidFill>
              <a:srgbClr val="0F7173"/>
            </a:solidFill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53" name="Shape 17"/>
          <p:cNvSpPr/>
          <p:nvPr/>
        </p:nvSpPr>
        <p:spPr>
          <a:xfrm>
            <a:off x="320040" y="2926079"/>
            <a:ext cx="109729" cy="1417321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" name="Text 18"/>
          <p:cNvSpPr txBox="1"/>
          <p:nvPr/>
        </p:nvSpPr>
        <p:spPr>
          <a:xfrm>
            <a:off x="548640" y="3079690"/>
            <a:ext cx="8138160" cy="1865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500">
                <a:solidFill>
                  <a:srgbClr val="F59E0B"/>
                </a:solidFill>
              </a:defRPr>
            </a:lvl1pPr>
          </a:lstStyle>
          <a:p>
            <a:pPr/>
            <a:r>
              <a:t>Project Goal</a:t>
            </a:r>
          </a:p>
        </p:txBody>
      </p:sp>
      <p:sp>
        <p:nvSpPr>
          <p:cNvPr id="55" name="Text 19"/>
          <p:cNvSpPr txBox="1"/>
          <p:nvPr/>
        </p:nvSpPr>
        <p:spPr>
          <a:xfrm>
            <a:off x="548640" y="3525827"/>
            <a:ext cx="8138160" cy="537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200">
                <a:solidFill>
                  <a:srgbClr val="F0F4F8"/>
                </a:solidFill>
              </a:defRPr>
            </a:lvl1pPr>
          </a:lstStyle>
          <a:p>
            <a:pPr/>
            <a:r>
              <a:t>Build a compact, defensible RESTful API that meets the coursework brief while staying distinctive: one robust CRUD model, one imported CSV dataset (AI exposure scores by occupation), and dedicated analytics endpoints for evidence-backed discussion. Scope is deliberate — small enough to finish well, distinctive enough to stand out.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8" name="Shape 1"/>
          <p:cNvSpPr/>
          <p:nvPr/>
        </p:nvSpPr>
        <p:spPr>
          <a:xfrm>
            <a:off x="-1" y="0"/>
            <a:ext cx="164594" cy="51435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" name="Text 2"/>
          <p:cNvSpPr txBox="1"/>
          <p:nvPr/>
        </p:nvSpPr>
        <p:spPr>
          <a:xfrm>
            <a:off x="320040" y="195932"/>
            <a:ext cx="7315201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Tech Stack &amp; Architecture</a:t>
            </a:r>
          </a:p>
        </p:txBody>
      </p:sp>
      <p:sp>
        <p:nvSpPr>
          <p:cNvPr id="60" name="Text 3"/>
          <p:cNvSpPr txBox="1"/>
          <p:nvPr/>
        </p:nvSpPr>
        <p:spPr>
          <a:xfrm>
            <a:off x="7772400" y="275766"/>
            <a:ext cx="118872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5EEAD4"/>
                </a:solidFill>
              </a:defRPr>
            </a:lvl1pPr>
          </a:lstStyle>
          <a:p>
            <a:pPr/>
            <a:r>
              <a:t>Slide 3 / 7</a:t>
            </a:r>
          </a:p>
        </p:txBody>
      </p:sp>
      <p:sp>
        <p:nvSpPr>
          <p:cNvPr id="61" name="Shape 4"/>
          <p:cNvSpPr/>
          <p:nvPr/>
        </p:nvSpPr>
        <p:spPr>
          <a:xfrm>
            <a:off x="320040" y="868680"/>
            <a:ext cx="4114801" cy="86868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2" name="Shape 5"/>
          <p:cNvSpPr/>
          <p:nvPr/>
        </p:nvSpPr>
        <p:spPr>
          <a:xfrm>
            <a:off x="320040" y="868680"/>
            <a:ext cx="91441" cy="868681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3" name="Text 6"/>
          <p:cNvSpPr txBox="1"/>
          <p:nvPr/>
        </p:nvSpPr>
        <p:spPr>
          <a:xfrm>
            <a:off x="530351" y="977323"/>
            <a:ext cx="374904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D1B2A"/>
                </a:solidFill>
              </a:defRPr>
            </a:lvl1pPr>
          </a:lstStyle>
          <a:p>
            <a:pPr/>
            <a:r>
              <a:t>Python FastAPI</a:t>
            </a:r>
          </a:p>
        </p:txBody>
      </p:sp>
      <p:sp>
        <p:nvSpPr>
          <p:cNvPr id="64" name="Text 7"/>
          <p:cNvSpPr txBox="1"/>
          <p:nvPr/>
        </p:nvSpPr>
        <p:spPr>
          <a:xfrm>
            <a:off x="530351" y="1293666"/>
            <a:ext cx="3749042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Typed validation, auto Swagger UI at /docs, async-ready — faster to prototype than Django</a:t>
            </a:r>
          </a:p>
        </p:txBody>
      </p:sp>
      <p:sp>
        <p:nvSpPr>
          <p:cNvPr id="65" name="Shape 8"/>
          <p:cNvSpPr/>
          <p:nvPr/>
        </p:nvSpPr>
        <p:spPr>
          <a:xfrm>
            <a:off x="320040" y="1874520"/>
            <a:ext cx="4114801" cy="86868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66" name="Shape 9"/>
          <p:cNvSpPr/>
          <p:nvPr/>
        </p:nvSpPr>
        <p:spPr>
          <a:xfrm>
            <a:off x="320040" y="1874520"/>
            <a:ext cx="91441" cy="868681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" name="Text 10"/>
          <p:cNvSpPr txBox="1"/>
          <p:nvPr/>
        </p:nvSpPr>
        <p:spPr>
          <a:xfrm>
            <a:off x="530351" y="1983163"/>
            <a:ext cx="3749042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D1B2A"/>
                </a:solidFill>
              </a:defRPr>
            </a:lvl1pPr>
          </a:lstStyle>
          <a:p>
            <a:pPr/>
            <a:r>
              <a:t>SQLAlchemy ORM</a:t>
            </a:r>
          </a:p>
        </p:txBody>
      </p:sp>
      <p:sp>
        <p:nvSpPr>
          <p:cNvPr id="68" name="Text 11"/>
          <p:cNvSpPr txBox="1"/>
          <p:nvPr/>
        </p:nvSpPr>
        <p:spPr>
          <a:xfrm>
            <a:off x="530351" y="2299506"/>
            <a:ext cx="3749042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Cleaner persistence layer vs ad-hoc sqlite3; enables easy migration to PostgreSQL later</a:t>
            </a:r>
          </a:p>
        </p:txBody>
      </p:sp>
      <p:sp>
        <p:nvSpPr>
          <p:cNvPr id="69" name="Shape 12"/>
          <p:cNvSpPr/>
          <p:nvPr/>
        </p:nvSpPr>
        <p:spPr>
          <a:xfrm>
            <a:off x="320040" y="2880360"/>
            <a:ext cx="4114801" cy="86868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0" name="Shape 13"/>
          <p:cNvSpPr/>
          <p:nvPr/>
        </p:nvSpPr>
        <p:spPr>
          <a:xfrm>
            <a:off x="320040" y="2880360"/>
            <a:ext cx="91441" cy="868681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1" name="Text 14"/>
          <p:cNvSpPr txBox="1"/>
          <p:nvPr/>
        </p:nvSpPr>
        <p:spPr>
          <a:xfrm>
            <a:off x="530351" y="2989002"/>
            <a:ext cx="374904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D1B2A"/>
                </a:solidFill>
              </a:defRPr>
            </a:lvl1pPr>
          </a:lstStyle>
          <a:p>
            <a:pPr/>
            <a:r>
              <a:t>SQLite</a:t>
            </a:r>
          </a:p>
        </p:txBody>
      </p:sp>
      <p:sp>
        <p:nvSpPr>
          <p:cNvPr id="72" name="Text 15"/>
          <p:cNvSpPr txBox="1"/>
          <p:nvPr/>
        </p:nvSpPr>
        <p:spPr>
          <a:xfrm>
            <a:off x="530351" y="3305346"/>
            <a:ext cx="3749042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Zero-setup, satisfies SQL requirement; trivially swappable under deadline pressure</a:t>
            </a:r>
          </a:p>
        </p:txBody>
      </p:sp>
      <p:sp>
        <p:nvSpPr>
          <p:cNvPr id="73" name="Shape 16"/>
          <p:cNvSpPr/>
          <p:nvPr/>
        </p:nvSpPr>
        <p:spPr>
          <a:xfrm>
            <a:off x="320040" y="3886199"/>
            <a:ext cx="4114801" cy="86868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4" name="Shape 17"/>
          <p:cNvSpPr/>
          <p:nvPr/>
        </p:nvSpPr>
        <p:spPr>
          <a:xfrm>
            <a:off x="320040" y="3886199"/>
            <a:ext cx="91441" cy="868682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5" name="Text 18"/>
          <p:cNvSpPr txBox="1"/>
          <p:nvPr/>
        </p:nvSpPr>
        <p:spPr>
          <a:xfrm>
            <a:off x="530351" y="3994843"/>
            <a:ext cx="3749042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D1B2A"/>
                </a:solidFill>
              </a:defRPr>
            </a:lvl1pPr>
          </a:lstStyle>
          <a:p>
            <a:pPr/>
            <a:r>
              <a:t>Pydantic v2</a:t>
            </a:r>
          </a:p>
        </p:txBody>
      </p:sp>
      <p:sp>
        <p:nvSpPr>
          <p:cNvPr id="76" name="Text 19"/>
          <p:cNvSpPr txBox="1"/>
          <p:nvPr/>
        </p:nvSpPr>
        <p:spPr>
          <a:xfrm>
            <a:off x="530351" y="4393736"/>
            <a:ext cx="374904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Runtime schema validation + serialisation with minimal boilerplate</a:t>
            </a:r>
          </a:p>
        </p:txBody>
      </p:sp>
      <p:sp>
        <p:nvSpPr>
          <p:cNvPr id="77" name="Shape 20"/>
          <p:cNvSpPr/>
          <p:nvPr/>
        </p:nvSpPr>
        <p:spPr>
          <a:xfrm>
            <a:off x="4754879" y="822959"/>
            <a:ext cx="4023360" cy="3931922"/>
          </a:xfrm>
          <a:prstGeom prst="rect">
            <a:avLst/>
          </a:prstGeom>
          <a:solidFill>
            <a:srgbClr val="1B3A5C"/>
          </a:solidFill>
          <a:ln w="12700">
            <a:solidFill>
              <a:srgbClr val="0F7173"/>
            </a:solidFill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78" name="Text 21"/>
          <p:cNvSpPr txBox="1"/>
          <p:nvPr/>
        </p:nvSpPr>
        <p:spPr>
          <a:xfrm>
            <a:off x="4892040" y="975168"/>
            <a:ext cx="374904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5EEAD4"/>
                </a:solidFill>
              </a:defRPr>
            </a:lvl1pPr>
          </a:lstStyle>
          <a:p>
            <a:pPr/>
            <a:r>
              <a:t>Architecture Flow</a:t>
            </a:r>
          </a:p>
        </p:txBody>
      </p:sp>
      <p:sp>
        <p:nvSpPr>
          <p:cNvPr id="79" name="Shape 22"/>
          <p:cNvSpPr/>
          <p:nvPr/>
        </p:nvSpPr>
        <p:spPr>
          <a:xfrm>
            <a:off x="4983479" y="1371600"/>
            <a:ext cx="3520441" cy="59436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0" name="Text 23"/>
          <p:cNvSpPr txBox="1"/>
          <p:nvPr/>
        </p:nvSpPr>
        <p:spPr>
          <a:xfrm>
            <a:off x="5120640" y="1466903"/>
            <a:ext cx="324612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Client / Swagger UI</a:t>
            </a:r>
          </a:p>
        </p:txBody>
      </p:sp>
      <p:sp>
        <p:nvSpPr>
          <p:cNvPr id="81" name="Text 24"/>
          <p:cNvSpPr txBox="1"/>
          <p:nvPr/>
        </p:nvSpPr>
        <p:spPr>
          <a:xfrm>
            <a:off x="5120640" y="1737404"/>
            <a:ext cx="32461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Browser or curl</a:t>
            </a:r>
          </a:p>
        </p:txBody>
      </p:sp>
      <p:sp>
        <p:nvSpPr>
          <p:cNvPr id="82" name="Text 25"/>
          <p:cNvSpPr txBox="1"/>
          <p:nvPr/>
        </p:nvSpPr>
        <p:spPr>
          <a:xfrm>
            <a:off x="6492240" y="1993138"/>
            <a:ext cx="4572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5EEAD4"/>
                </a:solidFill>
              </a:defRPr>
            </a:lvl1pPr>
          </a:lstStyle>
          <a:p>
            <a:pPr/>
            <a:r>
              <a:t>▼</a:t>
            </a:r>
          </a:p>
        </p:txBody>
      </p:sp>
      <p:sp>
        <p:nvSpPr>
          <p:cNvPr id="83" name="Shape 26"/>
          <p:cNvSpPr/>
          <p:nvPr/>
        </p:nvSpPr>
        <p:spPr>
          <a:xfrm>
            <a:off x="4983479" y="2176272"/>
            <a:ext cx="3520441" cy="594361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4" name="Text 27"/>
          <p:cNvSpPr txBox="1"/>
          <p:nvPr/>
        </p:nvSpPr>
        <p:spPr>
          <a:xfrm>
            <a:off x="5120640" y="2271575"/>
            <a:ext cx="324612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FastAPI Routes</a:t>
            </a:r>
          </a:p>
        </p:txBody>
      </p:sp>
      <p:sp>
        <p:nvSpPr>
          <p:cNvPr id="85" name="Text 28"/>
          <p:cNvSpPr txBox="1"/>
          <p:nvPr/>
        </p:nvSpPr>
        <p:spPr>
          <a:xfrm>
            <a:off x="5120640" y="2542076"/>
            <a:ext cx="32461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Request validation + routing</a:t>
            </a:r>
          </a:p>
        </p:txBody>
      </p:sp>
      <p:sp>
        <p:nvSpPr>
          <p:cNvPr id="86" name="Text 29"/>
          <p:cNvSpPr txBox="1"/>
          <p:nvPr/>
        </p:nvSpPr>
        <p:spPr>
          <a:xfrm>
            <a:off x="6492240" y="2797810"/>
            <a:ext cx="4572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5EEAD4"/>
                </a:solidFill>
              </a:defRPr>
            </a:lvl1pPr>
          </a:lstStyle>
          <a:p>
            <a:pPr/>
            <a:r>
              <a:t>▼</a:t>
            </a:r>
          </a:p>
        </p:txBody>
      </p:sp>
      <p:sp>
        <p:nvSpPr>
          <p:cNvPr id="87" name="Shape 30"/>
          <p:cNvSpPr/>
          <p:nvPr/>
        </p:nvSpPr>
        <p:spPr>
          <a:xfrm>
            <a:off x="4983479" y="2980944"/>
            <a:ext cx="3520441" cy="594361"/>
          </a:xfrm>
          <a:prstGeom prst="rect">
            <a:avLst/>
          </a:prstGeom>
          <a:solidFill>
            <a:srgbClr val="1B3A5C"/>
          </a:solidFill>
          <a:ln w="12700">
            <a:solidFill>
              <a:srgbClr val="0F7173"/>
            </a:solidFill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88" name="Text 31"/>
          <p:cNvSpPr txBox="1"/>
          <p:nvPr/>
        </p:nvSpPr>
        <p:spPr>
          <a:xfrm>
            <a:off x="5120640" y="3076247"/>
            <a:ext cx="324612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SQLAlchemy Models</a:t>
            </a:r>
          </a:p>
        </p:txBody>
      </p:sp>
      <p:sp>
        <p:nvSpPr>
          <p:cNvPr id="89" name="Text 32"/>
          <p:cNvSpPr txBox="1"/>
          <p:nvPr/>
        </p:nvSpPr>
        <p:spPr>
          <a:xfrm>
            <a:off x="5120640" y="3346748"/>
            <a:ext cx="32461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Claims + ai_exposure_scores</a:t>
            </a:r>
          </a:p>
        </p:txBody>
      </p:sp>
      <p:sp>
        <p:nvSpPr>
          <p:cNvPr id="90" name="Text 33"/>
          <p:cNvSpPr txBox="1"/>
          <p:nvPr/>
        </p:nvSpPr>
        <p:spPr>
          <a:xfrm>
            <a:off x="6492240" y="3602481"/>
            <a:ext cx="45720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1100">
                <a:solidFill>
                  <a:srgbClr val="5EEAD4"/>
                </a:solidFill>
              </a:defRPr>
            </a:lvl1pPr>
          </a:lstStyle>
          <a:p>
            <a:pPr/>
            <a:r>
              <a:t>▼</a:t>
            </a:r>
          </a:p>
        </p:txBody>
      </p:sp>
      <p:sp>
        <p:nvSpPr>
          <p:cNvPr id="91" name="Shape 34"/>
          <p:cNvSpPr/>
          <p:nvPr/>
        </p:nvSpPr>
        <p:spPr>
          <a:xfrm>
            <a:off x="4983479" y="3785615"/>
            <a:ext cx="3520441" cy="594361"/>
          </a:xfrm>
          <a:prstGeom prst="rect">
            <a:avLst/>
          </a:prstGeom>
          <a:solidFill>
            <a:srgbClr val="0D1B2A"/>
          </a:solidFill>
          <a:ln w="12700">
            <a:solidFill>
              <a:srgbClr val="0F7173"/>
            </a:solidFill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92" name="Text 35"/>
          <p:cNvSpPr txBox="1"/>
          <p:nvPr/>
        </p:nvSpPr>
        <p:spPr>
          <a:xfrm>
            <a:off x="5120640" y="3880919"/>
            <a:ext cx="324612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SQLite Database</a:t>
            </a:r>
          </a:p>
        </p:txBody>
      </p:sp>
      <p:sp>
        <p:nvSpPr>
          <p:cNvPr id="93" name="Text 36"/>
          <p:cNvSpPr txBox="1"/>
          <p:nvPr/>
        </p:nvSpPr>
        <p:spPr>
          <a:xfrm>
            <a:off x="5120640" y="4151420"/>
            <a:ext cx="324612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CBD5E1"/>
                </a:solidFill>
              </a:defRPr>
            </a:lvl1pPr>
          </a:lstStyle>
          <a:p>
            <a:pPr/>
            <a:r>
              <a:t>Persistent local SQL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6" name="Shape 1"/>
          <p:cNvSpPr/>
          <p:nvPr/>
        </p:nvSpPr>
        <p:spPr>
          <a:xfrm>
            <a:off x="-1" y="0"/>
            <a:ext cx="164594" cy="51435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7" name="Text 2"/>
          <p:cNvSpPr txBox="1"/>
          <p:nvPr/>
        </p:nvSpPr>
        <p:spPr>
          <a:xfrm>
            <a:off x="320040" y="195932"/>
            <a:ext cx="7315201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API Design &amp; Endpoints</a:t>
            </a:r>
          </a:p>
        </p:txBody>
      </p:sp>
      <p:sp>
        <p:nvSpPr>
          <p:cNvPr id="98" name="Text 3"/>
          <p:cNvSpPr txBox="1"/>
          <p:nvPr/>
        </p:nvSpPr>
        <p:spPr>
          <a:xfrm>
            <a:off x="7772400" y="275766"/>
            <a:ext cx="118872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5EEAD4"/>
                </a:solidFill>
              </a:defRPr>
            </a:lvl1pPr>
          </a:lstStyle>
          <a:p>
            <a:pPr/>
            <a:r>
              <a:t>Slide 4 / 7</a:t>
            </a:r>
          </a:p>
        </p:txBody>
      </p:sp>
      <p:sp>
        <p:nvSpPr>
          <p:cNvPr id="99" name="Shape 4"/>
          <p:cNvSpPr/>
          <p:nvPr/>
        </p:nvSpPr>
        <p:spPr>
          <a:xfrm>
            <a:off x="320040" y="777240"/>
            <a:ext cx="8503920" cy="347473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0" name="Text 5"/>
          <p:cNvSpPr txBox="1"/>
          <p:nvPr/>
        </p:nvSpPr>
        <p:spPr>
          <a:xfrm>
            <a:off x="365759" y="883842"/>
            <a:ext cx="82296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5EEAD4"/>
                </a:solidFill>
              </a:defRPr>
            </a:lvl1pPr>
          </a:lstStyle>
          <a:p>
            <a:pPr/>
            <a:r>
              <a:t>Method</a:t>
            </a:r>
          </a:p>
        </p:txBody>
      </p:sp>
      <p:sp>
        <p:nvSpPr>
          <p:cNvPr id="101" name="Text 6"/>
          <p:cNvSpPr txBox="1"/>
          <p:nvPr/>
        </p:nvSpPr>
        <p:spPr>
          <a:xfrm>
            <a:off x="1234439" y="883842"/>
            <a:ext cx="292608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5EEAD4"/>
                </a:solidFill>
              </a:defRPr>
            </a:lvl1pPr>
          </a:lstStyle>
          <a:p>
            <a:pPr/>
            <a:r>
              <a:t>Endpoint</a:t>
            </a:r>
          </a:p>
        </p:txBody>
      </p:sp>
      <p:sp>
        <p:nvSpPr>
          <p:cNvPr id="102" name="Text 7"/>
          <p:cNvSpPr txBox="1"/>
          <p:nvPr/>
        </p:nvSpPr>
        <p:spPr>
          <a:xfrm>
            <a:off x="4206240" y="883842"/>
            <a:ext cx="356616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5EEAD4"/>
                </a:solidFill>
              </a:defRPr>
            </a:lvl1pPr>
          </a:lstStyle>
          <a:p>
            <a:pPr/>
            <a:r>
              <a:t>Description</a:t>
            </a:r>
          </a:p>
        </p:txBody>
      </p:sp>
      <p:sp>
        <p:nvSpPr>
          <p:cNvPr id="103" name="Text 8"/>
          <p:cNvSpPr txBox="1"/>
          <p:nvPr/>
        </p:nvSpPr>
        <p:spPr>
          <a:xfrm>
            <a:off x="7818119" y="883842"/>
            <a:ext cx="73152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5EEAD4"/>
                </a:solidFill>
              </a:defRPr>
            </a:lvl1pPr>
          </a:lstStyle>
          <a:p>
            <a:pPr/>
            <a:r>
              <a:t>Code</a:t>
            </a:r>
          </a:p>
        </p:txBody>
      </p:sp>
      <p:sp>
        <p:nvSpPr>
          <p:cNvPr id="104" name="Shape 9"/>
          <p:cNvSpPr/>
          <p:nvPr/>
        </p:nvSpPr>
        <p:spPr>
          <a:xfrm>
            <a:off x="320040" y="1170432"/>
            <a:ext cx="8503920" cy="36576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5" name="Shape 10"/>
          <p:cNvSpPr/>
          <p:nvPr/>
        </p:nvSpPr>
        <p:spPr>
          <a:xfrm>
            <a:off x="365759" y="1225296"/>
            <a:ext cx="749810" cy="256033"/>
          </a:xfrm>
          <a:prstGeom prst="roundRect">
            <a:avLst>
              <a:gd name="adj" fmla="val 17857"/>
            </a:avLst>
          </a:prstGeom>
          <a:solidFill>
            <a:srgbClr val="22C55E"/>
          </a:solidFill>
          <a:ln w="12700">
            <a:solidFill>
              <a:srgbClr val="22C55E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6" name="Text 11"/>
          <p:cNvSpPr txBox="1"/>
          <p:nvPr/>
        </p:nvSpPr>
        <p:spPr>
          <a:xfrm>
            <a:off x="365759" y="1283462"/>
            <a:ext cx="74980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POST</a:t>
            </a:r>
          </a:p>
        </p:txBody>
      </p:sp>
      <p:sp>
        <p:nvSpPr>
          <p:cNvPr id="107" name="Text 12"/>
          <p:cNvSpPr txBox="1"/>
          <p:nvPr/>
        </p:nvSpPr>
        <p:spPr>
          <a:xfrm>
            <a:off x="1234439" y="1286256"/>
            <a:ext cx="292608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/claims</a:t>
            </a:r>
          </a:p>
        </p:txBody>
      </p:sp>
      <p:sp>
        <p:nvSpPr>
          <p:cNvPr id="108" name="Text 13"/>
          <p:cNvSpPr txBox="1"/>
          <p:nvPr/>
        </p:nvSpPr>
        <p:spPr>
          <a:xfrm>
            <a:off x="4206240" y="1293920"/>
            <a:ext cx="356616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Create a claim</a:t>
            </a:r>
          </a:p>
        </p:txBody>
      </p:sp>
      <p:sp>
        <p:nvSpPr>
          <p:cNvPr id="109" name="Text 14"/>
          <p:cNvSpPr txBox="1"/>
          <p:nvPr/>
        </p:nvSpPr>
        <p:spPr>
          <a:xfrm>
            <a:off x="7818119" y="1295322"/>
            <a:ext cx="73152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22C55E"/>
                </a:solidFill>
              </a:defRPr>
            </a:lvl1pPr>
          </a:lstStyle>
          <a:p>
            <a:pPr/>
            <a:r>
              <a:t>201</a:t>
            </a:r>
          </a:p>
        </p:txBody>
      </p:sp>
      <p:sp>
        <p:nvSpPr>
          <p:cNvPr id="110" name="Shape 15"/>
          <p:cNvSpPr/>
          <p:nvPr/>
        </p:nvSpPr>
        <p:spPr>
          <a:xfrm>
            <a:off x="320040" y="1572767"/>
            <a:ext cx="8503920" cy="365761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1" name="Shape 16"/>
          <p:cNvSpPr/>
          <p:nvPr/>
        </p:nvSpPr>
        <p:spPr>
          <a:xfrm>
            <a:off x="365759" y="1627632"/>
            <a:ext cx="749810" cy="256033"/>
          </a:xfrm>
          <a:prstGeom prst="roundRect">
            <a:avLst>
              <a:gd name="adj" fmla="val 17857"/>
            </a:avLst>
          </a:prstGeom>
          <a:solidFill>
            <a:srgbClr val="0F7173"/>
          </a:solidFill>
          <a:ln w="12700">
            <a:solidFill>
              <a:srgbClr val="0F71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Text 17"/>
          <p:cNvSpPr txBox="1"/>
          <p:nvPr/>
        </p:nvSpPr>
        <p:spPr>
          <a:xfrm>
            <a:off x="365759" y="1685798"/>
            <a:ext cx="74980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GET</a:t>
            </a:r>
          </a:p>
        </p:txBody>
      </p:sp>
      <p:sp>
        <p:nvSpPr>
          <p:cNvPr id="113" name="Text 18"/>
          <p:cNvSpPr txBox="1"/>
          <p:nvPr/>
        </p:nvSpPr>
        <p:spPr>
          <a:xfrm>
            <a:off x="1234439" y="1688592"/>
            <a:ext cx="292608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/claims</a:t>
            </a:r>
          </a:p>
        </p:txBody>
      </p:sp>
      <p:sp>
        <p:nvSpPr>
          <p:cNvPr id="114" name="Text 19"/>
          <p:cNvSpPr txBox="1"/>
          <p:nvPr/>
        </p:nvSpPr>
        <p:spPr>
          <a:xfrm>
            <a:off x="4206240" y="1696256"/>
            <a:ext cx="356616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List claims (filter, sort, paginate)</a:t>
            </a:r>
          </a:p>
        </p:txBody>
      </p:sp>
      <p:sp>
        <p:nvSpPr>
          <p:cNvPr id="115" name="Text 20"/>
          <p:cNvSpPr txBox="1"/>
          <p:nvPr/>
        </p:nvSpPr>
        <p:spPr>
          <a:xfrm>
            <a:off x="7818119" y="1697658"/>
            <a:ext cx="73152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0F7173"/>
                </a:solidFill>
              </a:defRPr>
            </a:lvl1pPr>
          </a:lstStyle>
          <a:p>
            <a:pPr/>
            <a:r>
              <a:t>200</a:t>
            </a:r>
          </a:p>
        </p:txBody>
      </p:sp>
      <p:sp>
        <p:nvSpPr>
          <p:cNvPr id="116" name="Shape 21"/>
          <p:cNvSpPr/>
          <p:nvPr/>
        </p:nvSpPr>
        <p:spPr>
          <a:xfrm>
            <a:off x="320040" y="1975104"/>
            <a:ext cx="8503920" cy="36576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7" name="Shape 22"/>
          <p:cNvSpPr/>
          <p:nvPr/>
        </p:nvSpPr>
        <p:spPr>
          <a:xfrm>
            <a:off x="365759" y="2029967"/>
            <a:ext cx="749810" cy="256033"/>
          </a:xfrm>
          <a:prstGeom prst="roundRect">
            <a:avLst>
              <a:gd name="adj" fmla="val 17857"/>
            </a:avLst>
          </a:prstGeom>
          <a:solidFill>
            <a:srgbClr val="0F7173"/>
          </a:solidFill>
          <a:ln w="12700">
            <a:solidFill>
              <a:srgbClr val="0F71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8" name="Text 23"/>
          <p:cNvSpPr txBox="1"/>
          <p:nvPr/>
        </p:nvSpPr>
        <p:spPr>
          <a:xfrm>
            <a:off x="365759" y="2088133"/>
            <a:ext cx="74980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GET</a:t>
            </a:r>
          </a:p>
        </p:txBody>
      </p:sp>
      <p:sp>
        <p:nvSpPr>
          <p:cNvPr id="119" name="Text 24"/>
          <p:cNvSpPr txBox="1"/>
          <p:nvPr/>
        </p:nvSpPr>
        <p:spPr>
          <a:xfrm>
            <a:off x="1234439" y="2090927"/>
            <a:ext cx="292608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/claims/{id}</a:t>
            </a:r>
          </a:p>
        </p:txBody>
      </p:sp>
      <p:sp>
        <p:nvSpPr>
          <p:cNvPr id="120" name="Text 25"/>
          <p:cNvSpPr txBox="1"/>
          <p:nvPr/>
        </p:nvSpPr>
        <p:spPr>
          <a:xfrm>
            <a:off x="4206240" y="2098592"/>
            <a:ext cx="356616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Retrieve single claim</a:t>
            </a:r>
          </a:p>
        </p:txBody>
      </p:sp>
      <p:sp>
        <p:nvSpPr>
          <p:cNvPr id="121" name="Text 26"/>
          <p:cNvSpPr txBox="1"/>
          <p:nvPr/>
        </p:nvSpPr>
        <p:spPr>
          <a:xfrm>
            <a:off x="7818119" y="2099994"/>
            <a:ext cx="73152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0F7173"/>
                </a:solidFill>
              </a:defRPr>
            </a:lvl1pPr>
          </a:lstStyle>
          <a:p>
            <a:pPr/>
            <a:r>
              <a:t>200</a:t>
            </a:r>
          </a:p>
        </p:txBody>
      </p:sp>
      <p:sp>
        <p:nvSpPr>
          <p:cNvPr id="122" name="Shape 27"/>
          <p:cNvSpPr/>
          <p:nvPr/>
        </p:nvSpPr>
        <p:spPr>
          <a:xfrm>
            <a:off x="320040" y="2377439"/>
            <a:ext cx="8503920" cy="365761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3" name="Shape 28"/>
          <p:cNvSpPr/>
          <p:nvPr/>
        </p:nvSpPr>
        <p:spPr>
          <a:xfrm>
            <a:off x="365759" y="2432304"/>
            <a:ext cx="749810" cy="256033"/>
          </a:xfrm>
          <a:prstGeom prst="roundRect">
            <a:avLst>
              <a:gd name="adj" fmla="val 17857"/>
            </a:avLst>
          </a:prstGeom>
          <a:solidFill>
            <a:srgbClr val="F59E0B"/>
          </a:solidFill>
          <a:ln w="1270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4" name="Text 29"/>
          <p:cNvSpPr txBox="1"/>
          <p:nvPr/>
        </p:nvSpPr>
        <p:spPr>
          <a:xfrm>
            <a:off x="365759" y="2490470"/>
            <a:ext cx="74980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PATCH</a:t>
            </a:r>
          </a:p>
        </p:txBody>
      </p:sp>
      <p:sp>
        <p:nvSpPr>
          <p:cNvPr id="125" name="Text 30"/>
          <p:cNvSpPr txBox="1"/>
          <p:nvPr/>
        </p:nvSpPr>
        <p:spPr>
          <a:xfrm>
            <a:off x="1234439" y="2493264"/>
            <a:ext cx="292608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/claims/{id}</a:t>
            </a:r>
          </a:p>
        </p:txBody>
      </p:sp>
      <p:sp>
        <p:nvSpPr>
          <p:cNvPr id="126" name="Text 31"/>
          <p:cNvSpPr txBox="1"/>
          <p:nvPr/>
        </p:nvSpPr>
        <p:spPr>
          <a:xfrm>
            <a:off x="4206240" y="2500928"/>
            <a:ext cx="356616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Update claim fields</a:t>
            </a:r>
          </a:p>
        </p:txBody>
      </p:sp>
      <p:sp>
        <p:nvSpPr>
          <p:cNvPr id="127" name="Text 32"/>
          <p:cNvSpPr txBox="1"/>
          <p:nvPr/>
        </p:nvSpPr>
        <p:spPr>
          <a:xfrm>
            <a:off x="7818119" y="2502330"/>
            <a:ext cx="73152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F59E0B"/>
                </a:solidFill>
              </a:defRPr>
            </a:lvl1pPr>
          </a:lstStyle>
          <a:p>
            <a:pPr/>
            <a:r>
              <a:t>200</a:t>
            </a:r>
          </a:p>
        </p:txBody>
      </p:sp>
      <p:sp>
        <p:nvSpPr>
          <p:cNvPr id="128" name="Shape 33"/>
          <p:cNvSpPr/>
          <p:nvPr/>
        </p:nvSpPr>
        <p:spPr>
          <a:xfrm>
            <a:off x="320040" y="2779776"/>
            <a:ext cx="8503920" cy="36576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9" name="Shape 34"/>
          <p:cNvSpPr/>
          <p:nvPr/>
        </p:nvSpPr>
        <p:spPr>
          <a:xfrm>
            <a:off x="365759" y="2834639"/>
            <a:ext cx="749810" cy="256033"/>
          </a:xfrm>
          <a:prstGeom prst="roundRect">
            <a:avLst>
              <a:gd name="adj" fmla="val 17857"/>
            </a:avLst>
          </a:prstGeom>
          <a:solidFill>
            <a:srgbClr val="EF4444"/>
          </a:solidFill>
          <a:ln w="12700">
            <a:solidFill>
              <a:srgbClr val="EF4444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0" name="Text 35"/>
          <p:cNvSpPr txBox="1"/>
          <p:nvPr/>
        </p:nvSpPr>
        <p:spPr>
          <a:xfrm>
            <a:off x="365759" y="2892805"/>
            <a:ext cx="74980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DELETE</a:t>
            </a:r>
          </a:p>
        </p:txBody>
      </p:sp>
      <p:sp>
        <p:nvSpPr>
          <p:cNvPr id="131" name="Text 36"/>
          <p:cNvSpPr txBox="1"/>
          <p:nvPr/>
        </p:nvSpPr>
        <p:spPr>
          <a:xfrm>
            <a:off x="1234439" y="2895599"/>
            <a:ext cx="292608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/claims/{id}</a:t>
            </a:r>
          </a:p>
        </p:txBody>
      </p:sp>
      <p:sp>
        <p:nvSpPr>
          <p:cNvPr id="132" name="Text 37"/>
          <p:cNvSpPr txBox="1"/>
          <p:nvPr/>
        </p:nvSpPr>
        <p:spPr>
          <a:xfrm>
            <a:off x="4206240" y="2903264"/>
            <a:ext cx="356616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Remove a claim</a:t>
            </a:r>
          </a:p>
        </p:txBody>
      </p:sp>
      <p:sp>
        <p:nvSpPr>
          <p:cNvPr id="133" name="Text 38"/>
          <p:cNvSpPr txBox="1"/>
          <p:nvPr/>
        </p:nvSpPr>
        <p:spPr>
          <a:xfrm>
            <a:off x="7818119" y="2904666"/>
            <a:ext cx="73152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EF4444"/>
                </a:solidFill>
              </a:defRPr>
            </a:lvl1pPr>
          </a:lstStyle>
          <a:p>
            <a:pPr/>
            <a:r>
              <a:t>204</a:t>
            </a:r>
          </a:p>
        </p:txBody>
      </p:sp>
      <p:sp>
        <p:nvSpPr>
          <p:cNvPr id="134" name="Shape 39"/>
          <p:cNvSpPr/>
          <p:nvPr/>
        </p:nvSpPr>
        <p:spPr>
          <a:xfrm>
            <a:off x="320040" y="3182111"/>
            <a:ext cx="8503920" cy="365761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5" name="Shape 40"/>
          <p:cNvSpPr/>
          <p:nvPr/>
        </p:nvSpPr>
        <p:spPr>
          <a:xfrm>
            <a:off x="365759" y="3236976"/>
            <a:ext cx="749810" cy="256033"/>
          </a:xfrm>
          <a:prstGeom prst="roundRect">
            <a:avLst>
              <a:gd name="adj" fmla="val 17857"/>
            </a:avLst>
          </a:prstGeom>
          <a:solidFill>
            <a:srgbClr val="0F7173"/>
          </a:solidFill>
          <a:ln w="12700">
            <a:solidFill>
              <a:srgbClr val="0F71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6" name="Text 41"/>
          <p:cNvSpPr txBox="1"/>
          <p:nvPr/>
        </p:nvSpPr>
        <p:spPr>
          <a:xfrm>
            <a:off x="365759" y="3295142"/>
            <a:ext cx="74980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GET</a:t>
            </a:r>
          </a:p>
        </p:txBody>
      </p:sp>
      <p:sp>
        <p:nvSpPr>
          <p:cNvPr id="137" name="Text 42"/>
          <p:cNvSpPr txBox="1"/>
          <p:nvPr/>
        </p:nvSpPr>
        <p:spPr>
          <a:xfrm>
            <a:off x="1234439" y="3297936"/>
            <a:ext cx="292608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/analytics/summary</a:t>
            </a:r>
          </a:p>
        </p:txBody>
      </p:sp>
      <p:sp>
        <p:nvSpPr>
          <p:cNvPr id="138" name="Text 43"/>
          <p:cNvSpPr txBox="1"/>
          <p:nvPr/>
        </p:nvSpPr>
        <p:spPr>
          <a:xfrm>
            <a:off x="4206240" y="3305600"/>
            <a:ext cx="356616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Total claims, avg impact score</a:t>
            </a:r>
          </a:p>
        </p:txBody>
      </p:sp>
      <p:sp>
        <p:nvSpPr>
          <p:cNvPr id="139" name="Text 44"/>
          <p:cNvSpPr txBox="1"/>
          <p:nvPr/>
        </p:nvSpPr>
        <p:spPr>
          <a:xfrm>
            <a:off x="7818119" y="3307002"/>
            <a:ext cx="73152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0F7173"/>
                </a:solidFill>
              </a:defRPr>
            </a:lvl1pPr>
          </a:lstStyle>
          <a:p>
            <a:pPr/>
            <a:r>
              <a:t>200</a:t>
            </a:r>
          </a:p>
        </p:txBody>
      </p:sp>
      <p:sp>
        <p:nvSpPr>
          <p:cNvPr id="140" name="Shape 45"/>
          <p:cNvSpPr/>
          <p:nvPr/>
        </p:nvSpPr>
        <p:spPr>
          <a:xfrm>
            <a:off x="320040" y="3584447"/>
            <a:ext cx="8503920" cy="36576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1" name="Shape 46"/>
          <p:cNvSpPr/>
          <p:nvPr/>
        </p:nvSpPr>
        <p:spPr>
          <a:xfrm>
            <a:off x="365759" y="3639311"/>
            <a:ext cx="749810" cy="256033"/>
          </a:xfrm>
          <a:prstGeom prst="roundRect">
            <a:avLst>
              <a:gd name="adj" fmla="val 17857"/>
            </a:avLst>
          </a:prstGeom>
          <a:solidFill>
            <a:srgbClr val="0F7173"/>
          </a:solidFill>
          <a:ln w="12700">
            <a:solidFill>
              <a:srgbClr val="0F71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2" name="Text 47"/>
          <p:cNvSpPr txBox="1"/>
          <p:nvPr/>
        </p:nvSpPr>
        <p:spPr>
          <a:xfrm>
            <a:off x="365759" y="3697477"/>
            <a:ext cx="74980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GET</a:t>
            </a:r>
          </a:p>
        </p:txBody>
      </p:sp>
      <p:sp>
        <p:nvSpPr>
          <p:cNvPr id="143" name="Text 48"/>
          <p:cNvSpPr txBox="1"/>
          <p:nvPr/>
        </p:nvSpPr>
        <p:spPr>
          <a:xfrm>
            <a:off x="1234439" y="3700271"/>
            <a:ext cx="292608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/analytics/by-category</a:t>
            </a:r>
          </a:p>
        </p:txBody>
      </p:sp>
      <p:sp>
        <p:nvSpPr>
          <p:cNvPr id="144" name="Text 49"/>
          <p:cNvSpPr txBox="1"/>
          <p:nvPr/>
        </p:nvSpPr>
        <p:spPr>
          <a:xfrm>
            <a:off x="4206240" y="3707936"/>
            <a:ext cx="356616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Claim counts by category</a:t>
            </a:r>
          </a:p>
        </p:txBody>
      </p:sp>
      <p:sp>
        <p:nvSpPr>
          <p:cNvPr id="145" name="Text 50"/>
          <p:cNvSpPr txBox="1"/>
          <p:nvPr/>
        </p:nvSpPr>
        <p:spPr>
          <a:xfrm>
            <a:off x="7818119" y="3709338"/>
            <a:ext cx="73152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0F7173"/>
                </a:solidFill>
              </a:defRPr>
            </a:lvl1pPr>
          </a:lstStyle>
          <a:p>
            <a:pPr/>
            <a:r>
              <a:t>200</a:t>
            </a:r>
          </a:p>
        </p:txBody>
      </p:sp>
      <p:sp>
        <p:nvSpPr>
          <p:cNvPr id="146" name="Shape 51"/>
          <p:cNvSpPr/>
          <p:nvPr/>
        </p:nvSpPr>
        <p:spPr>
          <a:xfrm>
            <a:off x="320040" y="3986784"/>
            <a:ext cx="8503920" cy="365761"/>
          </a:xfrm>
          <a:prstGeom prst="rect">
            <a:avLst/>
          </a:prstGeom>
          <a:solidFill>
            <a:srgbClr val="F0F4F8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7" name="Shape 52"/>
          <p:cNvSpPr/>
          <p:nvPr/>
        </p:nvSpPr>
        <p:spPr>
          <a:xfrm>
            <a:off x="365759" y="4041647"/>
            <a:ext cx="749810" cy="256033"/>
          </a:xfrm>
          <a:prstGeom prst="roundRect">
            <a:avLst>
              <a:gd name="adj" fmla="val 17857"/>
            </a:avLst>
          </a:prstGeom>
          <a:solidFill>
            <a:srgbClr val="0F7173"/>
          </a:solidFill>
          <a:ln w="12700">
            <a:solidFill>
              <a:srgbClr val="0F71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8" name="Text 53"/>
          <p:cNvSpPr txBox="1"/>
          <p:nvPr/>
        </p:nvSpPr>
        <p:spPr>
          <a:xfrm>
            <a:off x="365759" y="4099813"/>
            <a:ext cx="74980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GET</a:t>
            </a:r>
          </a:p>
        </p:txBody>
      </p:sp>
      <p:sp>
        <p:nvSpPr>
          <p:cNvPr id="149" name="Text 54"/>
          <p:cNvSpPr txBox="1"/>
          <p:nvPr/>
        </p:nvSpPr>
        <p:spPr>
          <a:xfrm>
            <a:off x="1234439" y="4102607"/>
            <a:ext cx="292608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/analytics/high-exposure</a:t>
            </a:r>
          </a:p>
        </p:txBody>
      </p:sp>
      <p:sp>
        <p:nvSpPr>
          <p:cNvPr id="150" name="Text 55"/>
          <p:cNvSpPr txBox="1"/>
          <p:nvPr/>
        </p:nvSpPr>
        <p:spPr>
          <a:xfrm>
            <a:off x="4206240" y="4110272"/>
            <a:ext cx="356616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High-risk occupations by score</a:t>
            </a:r>
          </a:p>
        </p:txBody>
      </p:sp>
      <p:sp>
        <p:nvSpPr>
          <p:cNvPr id="151" name="Text 56"/>
          <p:cNvSpPr txBox="1"/>
          <p:nvPr/>
        </p:nvSpPr>
        <p:spPr>
          <a:xfrm>
            <a:off x="7818119" y="4111673"/>
            <a:ext cx="73152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0F7173"/>
                </a:solidFill>
              </a:defRPr>
            </a:lvl1pPr>
          </a:lstStyle>
          <a:p>
            <a:pPr/>
            <a:r>
              <a:t>200</a:t>
            </a:r>
          </a:p>
        </p:txBody>
      </p:sp>
      <p:sp>
        <p:nvSpPr>
          <p:cNvPr id="152" name="Shape 57"/>
          <p:cNvSpPr/>
          <p:nvPr/>
        </p:nvSpPr>
        <p:spPr>
          <a:xfrm>
            <a:off x="320040" y="4389120"/>
            <a:ext cx="8503920" cy="36576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3" name="Shape 58"/>
          <p:cNvSpPr/>
          <p:nvPr/>
        </p:nvSpPr>
        <p:spPr>
          <a:xfrm>
            <a:off x="365759" y="4443984"/>
            <a:ext cx="749810" cy="256033"/>
          </a:xfrm>
          <a:prstGeom prst="roundRect">
            <a:avLst>
              <a:gd name="adj" fmla="val 17857"/>
            </a:avLst>
          </a:prstGeom>
          <a:solidFill>
            <a:srgbClr val="0F7173"/>
          </a:solidFill>
          <a:ln w="12700">
            <a:solidFill>
              <a:srgbClr val="0F71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4" name="Text 59"/>
          <p:cNvSpPr txBox="1"/>
          <p:nvPr/>
        </p:nvSpPr>
        <p:spPr>
          <a:xfrm>
            <a:off x="365759" y="4502150"/>
            <a:ext cx="749809" cy="139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9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GET</a:t>
            </a:r>
          </a:p>
        </p:txBody>
      </p:sp>
      <p:sp>
        <p:nvSpPr>
          <p:cNvPr id="155" name="Text 60"/>
          <p:cNvSpPr txBox="1"/>
          <p:nvPr/>
        </p:nvSpPr>
        <p:spPr>
          <a:xfrm>
            <a:off x="1234439" y="4504944"/>
            <a:ext cx="2926082" cy="15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/analytics/occupation/{code}</a:t>
            </a:r>
          </a:p>
        </p:txBody>
      </p:sp>
      <p:sp>
        <p:nvSpPr>
          <p:cNvPr id="156" name="Text 61"/>
          <p:cNvSpPr txBox="1"/>
          <p:nvPr/>
        </p:nvSpPr>
        <p:spPr>
          <a:xfrm>
            <a:off x="4206240" y="4512608"/>
            <a:ext cx="356616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64748B"/>
                </a:solidFill>
              </a:defRPr>
            </a:lvl1pPr>
          </a:lstStyle>
          <a:p>
            <a:pPr/>
            <a:r>
              <a:t>Claims for specific occupation</a:t>
            </a:r>
          </a:p>
        </p:txBody>
      </p:sp>
      <p:sp>
        <p:nvSpPr>
          <p:cNvPr id="157" name="Text 62"/>
          <p:cNvSpPr txBox="1"/>
          <p:nvPr/>
        </p:nvSpPr>
        <p:spPr>
          <a:xfrm>
            <a:off x="7818119" y="4514010"/>
            <a:ext cx="73152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0F7173"/>
                </a:solidFill>
              </a:defRPr>
            </a:lvl1pPr>
          </a:lstStyle>
          <a:p>
            <a:pPr/>
            <a:r>
              <a:t>200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0" name="Shape 1"/>
          <p:cNvSpPr/>
          <p:nvPr/>
        </p:nvSpPr>
        <p:spPr>
          <a:xfrm>
            <a:off x="-1" y="0"/>
            <a:ext cx="164594" cy="51435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1" name="Text 2"/>
          <p:cNvSpPr txBox="1"/>
          <p:nvPr/>
        </p:nvSpPr>
        <p:spPr>
          <a:xfrm>
            <a:off x="320040" y="195932"/>
            <a:ext cx="7315201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Live Demo Walkthrough</a:t>
            </a:r>
          </a:p>
        </p:txBody>
      </p:sp>
      <p:sp>
        <p:nvSpPr>
          <p:cNvPr id="162" name="Text 3"/>
          <p:cNvSpPr txBox="1"/>
          <p:nvPr/>
        </p:nvSpPr>
        <p:spPr>
          <a:xfrm>
            <a:off x="7772400" y="275766"/>
            <a:ext cx="118872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5EEAD4"/>
                </a:solidFill>
              </a:defRPr>
            </a:lvl1pPr>
          </a:lstStyle>
          <a:p>
            <a:pPr/>
            <a:r>
              <a:t>Slide 5 / 7</a:t>
            </a:r>
          </a:p>
        </p:txBody>
      </p:sp>
      <p:sp>
        <p:nvSpPr>
          <p:cNvPr id="163" name="Shape 4"/>
          <p:cNvSpPr/>
          <p:nvPr/>
        </p:nvSpPr>
        <p:spPr>
          <a:xfrm>
            <a:off x="320040" y="804672"/>
            <a:ext cx="8503920" cy="749809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4" name="Shape 5"/>
          <p:cNvSpPr/>
          <p:nvPr/>
        </p:nvSpPr>
        <p:spPr>
          <a:xfrm>
            <a:off x="384047" y="950975"/>
            <a:ext cx="457201" cy="457201"/>
          </a:xfrm>
          <a:prstGeom prst="ellipse">
            <a:avLst/>
          </a:prstGeom>
          <a:solidFill>
            <a:srgbClr val="0F7173"/>
          </a:solidFill>
          <a:ln w="12700">
            <a:solidFill>
              <a:srgbClr val="0F71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5" name="Text 6"/>
          <p:cNvSpPr txBox="1"/>
          <p:nvPr/>
        </p:nvSpPr>
        <p:spPr>
          <a:xfrm>
            <a:off x="384047" y="1084896"/>
            <a:ext cx="4572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66" name="Text 7"/>
          <p:cNvSpPr txBox="1"/>
          <p:nvPr/>
        </p:nvSpPr>
        <p:spPr>
          <a:xfrm>
            <a:off x="960119" y="913384"/>
            <a:ext cx="32004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Open /docs</a:t>
            </a:r>
          </a:p>
        </p:txBody>
      </p:sp>
      <p:sp>
        <p:nvSpPr>
          <p:cNvPr id="167" name="Text 8"/>
          <p:cNvSpPr txBox="1"/>
          <p:nvPr/>
        </p:nvSpPr>
        <p:spPr>
          <a:xfrm>
            <a:off x="960119" y="1263318"/>
            <a:ext cx="772668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/>
            <a:r>
              <a:t>Show live Swagger UI — demonstrates auto-generated documentation from FastAPI</a:t>
            </a:r>
          </a:p>
        </p:txBody>
      </p:sp>
      <p:sp>
        <p:nvSpPr>
          <p:cNvPr id="168" name="Shape 9"/>
          <p:cNvSpPr/>
          <p:nvPr/>
        </p:nvSpPr>
        <p:spPr>
          <a:xfrm>
            <a:off x="320040" y="1655064"/>
            <a:ext cx="8503920" cy="749809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69" name="Shape 10"/>
          <p:cNvSpPr/>
          <p:nvPr/>
        </p:nvSpPr>
        <p:spPr>
          <a:xfrm>
            <a:off x="384047" y="1801367"/>
            <a:ext cx="457201" cy="457201"/>
          </a:xfrm>
          <a:prstGeom prst="ellipse">
            <a:avLst/>
          </a:prstGeom>
          <a:solidFill>
            <a:srgbClr val="0F7173"/>
          </a:solidFill>
          <a:ln w="12700">
            <a:solidFill>
              <a:srgbClr val="0F71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0" name="Text 11"/>
          <p:cNvSpPr txBox="1"/>
          <p:nvPr/>
        </p:nvSpPr>
        <p:spPr>
          <a:xfrm>
            <a:off x="384047" y="1935288"/>
            <a:ext cx="4572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71" name="Text 12"/>
          <p:cNvSpPr txBox="1"/>
          <p:nvPr/>
        </p:nvSpPr>
        <p:spPr>
          <a:xfrm>
            <a:off x="960119" y="1763776"/>
            <a:ext cx="32004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POST /claims</a:t>
            </a:r>
          </a:p>
        </p:txBody>
      </p:sp>
      <p:sp>
        <p:nvSpPr>
          <p:cNvPr id="172" name="Text 13"/>
          <p:cNvSpPr txBox="1"/>
          <p:nvPr/>
        </p:nvSpPr>
        <p:spPr>
          <a:xfrm>
            <a:off x="960119" y="2113710"/>
            <a:ext cx="772668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/>
            <a:r>
              <a:t>Create: {"title":"AI replacing copywriting","category":"jobs","occupation_code":"3541"}</a:t>
            </a:r>
          </a:p>
        </p:txBody>
      </p:sp>
      <p:sp>
        <p:nvSpPr>
          <p:cNvPr id="173" name="Shape 14"/>
          <p:cNvSpPr/>
          <p:nvPr/>
        </p:nvSpPr>
        <p:spPr>
          <a:xfrm>
            <a:off x="320040" y="2505455"/>
            <a:ext cx="8503920" cy="749809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4" name="Shape 15"/>
          <p:cNvSpPr/>
          <p:nvPr/>
        </p:nvSpPr>
        <p:spPr>
          <a:xfrm>
            <a:off x="384047" y="2651760"/>
            <a:ext cx="457201" cy="457201"/>
          </a:xfrm>
          <a:prstGeom prst="ellipse">
            <a:avLst/>
          </a:prstGeom>
          <a:solidFill>
            <a:srgbClr val="0F7173"/>
          </a:solidFill>
          <a:ln w="12700">
            <a:solidFill>
              <a:srgbClr val="0F71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75" name="Text 16"/>
          <p:cNvSpPr txBox="1"/>
          <p:nvPr/>
        </p:nvSpPr>
        <p:spPr>
          <a:xfrm>
            <a:off x="384047" y="2785680"/>
            <a:ext cx="4572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76" name="Text 17"/>
          <p:cNvSpPr txBox="1"/>
          <p:nvPr/>
        </p:nvSpPr>
        <p:spPr>
          <a:xfrm>
            <a:off x="960119" y="2614167"/>
            <a:ext cx="32004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GET /claims</a:t>
            </a:r>
          </a:p>
        </p:txBody>
      </p:sp>
      <p:sp>
        <p:nvSpPr>
          <p:cNvPr id="177" name="Text 18"/>
          <p:cNvSpPr txBox="1"/>
          <p:nvPr/>
        </p:nvSpPr>
        <p:spPr>
          <a:xfrm>
            <a:off x="960119" y="2964102"/>
            <a:ext cx="772668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/>
            <a:r>
              <a:t>Confirm persistence. Show filtering by category and pagination parameters</a:t>
            </a:r>
          </a:p>
        </p:txBody>
      </p:sp>
      <p:sp>
        <p:nvSpPr>
          <p:cNvPr id="178" name="Shape 19"/>
          <p:cNvSpPr/>
          <p:nvPr/>
        </p:nvSpPr>
        <p:spPr>
          <a:xfrm>
            <a:off x="320040" y="3355847"/>
            <a:ext cx="8503920" cy="749809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79" name="Shape 20"/>
          <p:cNvSpPr/>
          <p:nvPr/>
        </p:nvSpPr>
        <p:spPr>
          <a:xfrm>
            <a:off x="384047" y="3502152"/>
            <a:ext cx="457201" cy="457201"/>
          </a:xfrm>
          <a:prstGeom prst="ellipse">
            <a:avLst/>
          </a:prstGeom>
          <a:solidFill>
            <a:srgbClr val="0F7173"/>
          </a:solidFill>
          <a:ln w="12700">
            <a:solidFill>
              <a:srgbClr val="0F71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0" name="Text 21"/>
          <p:cNvSpPr txBox="1"/>
          <p:nvPr/>
        </p:nvSpPr>
        <p:spPr>
          <a:xfrm>
            <a:off x="384047" y="3636072"/>
            <a:ext cx="4572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81" name="Text 22"/>
          <p:cNvSpPr txBox="1"/>
          <p:nvPr/>
        </p:nvSpPr>
        <p:spPr>
          <a:xfrm>
            <a:off x="960119" y="3464560"/>
            <a:ext cx="32004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PATCH /claims/{id}</a:t>
            </a:r>
          </a:p>
        </p:txBody>
      </p:sp>
      <p:sp>
        <p:nvSpPr>
          <p:cNvPr id="182" name="Text 23"/>
          <p:cNvSpPr txBox="1"/>
          <p:nvPr/>
        </p:nvSpPr>
        <p:spPr>
          <a:xfrm>
            <a:off x="960119" y="3814494"/>
            <a:ext cx="772668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/>
            <a:r>
              <a:t>Partial update: change impact_score and verification_status fields</a:t>
            </a:r>
          </a:p>
        </p:txBody>
      </p:sp>
      <p:sp>
        <p:nvSpPr>
          <p:cNvPr id="183" name="Shape 24"/>
          <p:cNvSpPr/>
          <p:nvPr/>
        </p:nvSpPr>
        <p:spPr>
          <a:xfrm>
            <a:off x="320040" y="4206240"/>
            <a:ext cx="8503920" cy="749809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84" name="Shape 25"/>
          <p:cNvSpPr/>
          <p:nvPr/>
        </p:nvSpPr>
        <p:spPr>
          <a:xfrm>
            <a:off x="384047" y="4352544"/>
            <a:ext cx="457201" cy="457201"/>
          </a:xfrm>
          <a:prstGeom prst="ellipse">
            <a:avLst/>
          </a:prstGeom>
          <a:solidFill>
            <a:srgbClr val="0F7173"/>
          </a:solidFill>
          <a:ln w="12700">
            <a:solidFill>
              <a:srgbClr val="0F71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85" name="Text 26"/>
          <p:cNvSpPr txBox="1"/>
          <p:nvPr/>
        </p:nvSpPr>
        <p:spPr>
          <a:xfrm>
            <a:off x="384047" y="4486464"/>
            <a:ext cx="4572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186" name="Text 27"/>
          <p:cNvSpPr txBox="1"/>
          <p:nvPr/>
        </p:nvSpPr>
        <p:spPr>
          <a:xfrm>
            <a:off x="960119" y="4314951"/>
            <a:ext cx="3200401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D1B2A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GET /analytics/summary</a:t>
            </a:r>
          </a:p>
        </p:txBody>
      </p:sp>
      <p:sp>
        <p:nvSpPr>
          <p:cNvPr id="187" name="Text 28"/>
          <p:cNvSpPr txBox="1"/>
          <p:nvPr/>
        </p:nvSpPr>
        <p:spPr>
          <a:xfrm>
            <a:off x="960119" y="4664886"/>
            <a:ext cx="7726682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/>
            <a:r>
              <a:t>Show total_claims, average_impact_score — proves app is more than CRUD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0" name="Shape 1"/>
          <p:cNvSpPr/>
          <p:nvPr/>
        </p:nvSpPr>
        <p:spPr>
          <a:xfrm>
            <a:off x="-1" y="0"/>
            <a:ext cx="164594" cy="51435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1" name="Text 2"/>
          <p:cNvSpPr txBox="1"/>
          <p:nvPr/>
        </p:nvSpPr>
        <p:spPr>
          <a:xfrm>
            <a:off x="320040" y="195932"/>
            <a:ext cx="7315201" cy="2939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GenAI Usage &amp; Methodology</a:t>
            </a:r>
          </a:p>
        </p:txBody>
      </p:sp>
      <p:sp>
        <p:nvSpPr>
          <p:cNvPr id="192" name="Text 3"/>
          <p:cNvSpPr txBox="1"/>
          <p:nvPr/>
        </p:nvSpPr>
        <p:spPr>
          <a:xfrm>
            <a:off x="7772400" y="275766"/>
            <a:ext cx="118872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5EEAD4"/>
                </a:solidFill>
              </a:defRPr>
            </a:lvl1pPr>
          </a:lstStyle>
          <a:p>
            <a:pPr/>
            <a:r>
              <a:t>Slide 6 / 7</a:t>
            </a:r>
          </a:p>
        </p:txBody>
      </p:sp>
      <p:sp>
        <p:nvSpPr>
          <p:cNvPr id="193" name="Shape 4"/>
          <p:cNvSpPr/>
          <p:nvPr/>
        </p:nvSpPr>
        <p:spPr>
          <a:xfrm>
            <a:off x="320040" y="804672"/>
            <a:ext cx="8503920" cy="502920"/>
          </a:xfrm>
          <a:prstGeom prst="rect">
            <a:avLst/>
          </a:prstGeom>
          <a:solidFill>
            <a:srgbClr val="1B3A5C"/>
          </a:solidFill>
          <a:ln w="12700">
            <a:solidFill>
              <a:srgbClr val="F59E0B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4" name="Text 5"/>
          <p:cNvSpPr txBox="1"/>
          <p:nvPr/>
        </p:nvSpPr>
        <p:spPr>
          <a:xfrm>
            <a:off x="457199" y="977699"/>
            <a:ext cx="8321042" cy="1568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59E0B"/>
                </a:solidFill>
              </a:defRPr>
            </a:lvl1pPr>
          </a:lstStyle>
          <a:p>
            <a:pPr/>
            <a:r>
              <a:t>Green Light Assessment — all GenAI use declared below with conversation logs attached as appendix</a:t>
            </a:r>
          </a:p>
        </p:txBody>
      </p:sp>
      <p:sp>
        <p:nvSpPr>
          <p:cNvPr id="195" name="Shape 6"/>
          <p:cNvSpPr/>
          <p:nvPr/>
        </p:nvSpPr>
        <p:spPr>
          <a:xfrm>
            <a:off x="320040" y="1463039"/>
            <a:ext cx="4114801" cy="132588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196" name="Shape 7"/>
          <p:cNvSpPr/>
          <p:nvPr/>
        </p:nvSpPr>
        <p:spPr>
          <a:xfrm>
            <a:off x="320040" y="1463039"/>
            <a:ext cx="4114801" cy="91441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97" name="Text 8"/>
          <p:cNvSpPr txBox="1"/>
          <p:nvPr/>
        </p:nvSpPr>
        <p:spPr>
          <a:xfrm>
            <a:off x="457200" y="1640585"/>
            <a:ext cx="384048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D1B2A"/>
                </a:solidFill>
              </a:defRPr>
            </a:lvl1pPr>
          </a:lstStyle>
          <a:p>
            <a:pPr/>
            <a:r>
              <a:t>🔍  Dataset Discovery</a:t>
            </a:r>
          </a:p>
        </p:txBody>
      </p:sp>
      <p:sp>
        <p:nvSpPr>
          <p:cNvPr id="198" name="Text 9"/>
          <p:cNvSpPr txBox="1"/>
          <p:nvPr/>
        </p:nvSpPr>
        <p:spPr>
          <a:xfrm>
            <a:off x="457200" y="2182036"/>
            <a:ext cx="3840480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/>
            <a:r>
              <a:t>Used Claude to search for AI occupation exposure datasets and evaluate their suitability for academic use.</a:t>
            </a:r>
          </a:p>
        </p:txBody>
      </p:sp>
      <p:sp>
        <p:nvSpPr>
          <p:cNvPr id="199" name="Shape 10"/>
          <p:cNvSpPr/>
          <p:nvPr/>
        </p:nvSpPr>
        <p:spPr>
          <a:xfrm>
            <a:off x="4617720" y="1463039"/>
            <a:ext cx="4114801" cy="132588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0" name="Shape 11"/>
          <p:cNvSpPr/>
          <p:nvPr/>
        </p:nvSpPr>
        <p:spPr>
          <a:xfrm>
            <a:off x="4617720" y="1463039"/>
            <a:ext cx="4114801" cy="91441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1" name="Text 12"/>
          <p:cNvSpPr txBox="1"/>
          <p:nvPr/>
        </p:nvSpPr>
        <p:spPr>
          <a:xfrm>
            <a:off x="4754879" y="1640585"/>
            <a:ext cx="384048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D1B2A"/>
                </a:solidFill>
              </a:defRPr>
            </a:lvl1pPr>
          </a:lstStyle>
          <a:p>
            <a:pPr/>
            <a:r>
              <a:t>🏗️  Architecture Planning</a:t>
            </a:r>
          </a:p>
        </p:txBody>
      </p:sp>
      <p:sp>
        <p:nvSpPr>
          <p:cNvPr id="202" name="Text 13"/>
          <p:cNvSpPr txBox="1"/>
          <p:nvPr/>
        </p:nvSpPr>
        <p:spPr>
          <a:xfrm>
            <a:off x="4754879" y="2182036"/>
            <a:ext cx="3840481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/>
            <a:r>
              <a:t>Explored FastAPI vs Django trade-offs; GenAI explained async support and Pydantic v2 migration implications.</a:t>
            </a:r>
          </a:p>
        </p:txBody>
      </p:sp>
      <p:sp>
        <p:nvSpPr>
          <p:cNvPr id="203" name="Shape 14"/>
          <p:cNvSpPr/>
          <p:nvPr/>
        </p:nvSpPr>
        <p:spPr>
          <a:xfrm>
            <a:off x="320040" y="2926079"/>
            <a:ext cx="4114801" cy="132588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4" name="Shape 15"/>
          <p:cNvSpPr/>
          <p:nvPr/>
        </p:nvSpPr>
        <p:spPr>
          <a:xfrm>
            <a:off x="320040" y="2926079"/>
            <a:ext cx="4114801" cy="91441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5" name="Text 16"/>
          <p:cNvSpPr txBox="1"/>
          <p:nvPr/>
        </p:nvSpPr>
        <p:spPr>
          <a:xfrm>
            <a:off x="457200" y="3103625"/>
            <a:ext cx="3840480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D1B2A"/>
                </a:solidFill>
              </a:defRPr>
            </a:lvl1pPr>
          </a:lstStyle>
          <a:p>
            <a:pPr/>
            <a:r>
              <a:t>🐛  Debugging &amp; Refining</a:t>
            </a:r>
          </a:p>
        </p:txBody>
      </p:sp>
      <p:sp>
        <p:nvSpPr>
          <p:cNvPr id="206" name="Text 17"/>
          <p:cNvSpPr txBox="1"/>
          <p:nvPr/>
        </p:nvSpPr>
        <p:spPr>
          <a:xfrm>
            <a:off x="457200" y="3645076"/>
            <a:ext cx="3840480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/>
            <a:r>
              <a:t>Resolved SQLAlchemy session management issues and validated Pydantic schema edge cases with AI assistance.</a:t>
            </a:r>
          </a:p>
        </p:txBody>
      </p:sp>
      <p:sp>
        <p:nvSpPr>
          <p:cNvPr id="207" name="Shape 18"/>
          <p:cNvSpPr/>
          <p:nvPr/>
        </p:nvSpPr>
        <p:spPr>
          <a:xfrm>
            <a:off x="4617720" y="2926079"/>
            <a:ext cx="4114801" cy="1325881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08" name="Shape 19"/>
          <p:cNvSpPr/>
          <p:nvPr/>
        </p:nvSpPr>
        <p:spPr>
          <a:xfrm>
            <a:off x="4617720" y="2926079"/>
            <a:ext cx="4114801" cy="91441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09" name="Text 20"/>
          <p:cNvSpPr txBox="1"/>
          <p:nvPr/>
        </p:nvSpPr>
        <p:spPr>
          <a:xfrm>
            <a:off x="4754879" y="3103625"/>
            <a:ext cx="3840481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D1B2A"/>
                </a:solidFill>
              </a:defRPr>
            </a:lvl1pPr>
          </a:lstStyle>
          <a:p>
            <a:pPr/>
            <a:r>
              <a:t>💡  Creative Exploration</a:t>
            </a:r>
          </a:p>
        </p:txBody>
      </p:sp>
      <p:sp>
        <p:nvSpPr>
          <p:cNvPr id="210" name="Text 21"/>
          <p:cNvSpPr txBox="1"/>
          <p:nvPr/>
        </p:nvSpPr>
        <p:spPr>
          <a:xfrm>
            <a:off x="4754879" y="3645076"/>
            <a:ext cx="3840481" cy="2993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64748B"/>
                </a:solidFill>
              </a:defRPr>
            </a:lvl1pPr>
          </a:lstStyle>
          <a:p>
            <a:pPr/>
            <a:r>
              <a:t>Used AI to reimagine analytics endpoints — e.g. occupational exposure scoring rather than simple CRUD summaries.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Shape 0"/>
          <p:cNvSpPr/>
          <p:nvPr/>
        </p:nvSpPr>
        <p:spPr>
          <a:xfrm>
            <a:off x="-1" y="0"/>
            <a:ext cx="164594" cy="51435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4" name="Text 2"/>
          <p:cNvSpPr txBox="1"/>
          <p:nvPr/>
        </p:nvSpPr>
        <p:spPr>
          <a:xfrm>
            <a:off x="320040" y="218529"/>
            <a:ext cx="7772401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000">
                <a:solidFill>
                  <a:srgbClr val="FFFFFF"/>
                </a:solidFill>
              </a:defRPr>
            </a:lvl1pPr>
          </a:lstStyle>
          <a:p>
            <a:pPr/>
            <a:r>
              <a:t>Deliverables, Limitations &amp; Reflection</a:t>
            </a:r>
          </a:p>
        </p:txBody>
      </p:sp>
      <p:sp>
        <p:nvSpPr>
          <p:cNvPr id="215" name="Text 3"/>
          <p:cNvSpPr txBox="1"/>
          <p:nvPr/>
        </p:nvSpPr>
        <p:spPr>
          <a:xfrm>
            <a:off x="7772400" y="275766"/>
            <a:ext cx="118872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sz="1100">
                <a:solidFill>
                  <a:srgbClr val="5EEAD4"/>
                </a:solidFill>
              </a:defRPr>
            </a:lvl1pPr>
          </a:lstStyle>
          <a:p>
            <a:pPr/>
            <a:r>
              <a:t>Slide 7 / 7</a:t>
            </a:r>
          </a:p>
        </p:txBody>
      </p:sp>
      <p:sp>
        <p:nvSpPr>
          <p:cNvPr id="216" name="Shape 4"/>
          <p:cNvSpPr/>
          <p:nvPr/>
        </p:nvSpPr>
        <p:spPr>
          <a:xfrm>
            <a:off x="320040" y="822959"/>
            <a:ext cx="4114801" cy="3246122"/>
          </a:xfrm>
          <a:prstGeom prst="rect">
            <a:avLst/>
          </a:prstGeom>
          <a:solidFill>
            <a:srgbClr val="1B3A5C"/>
          </a:solidFill>
          <a:ln w="12700">
            <a:solidFill>
              <a:srgbClr val="0F7173"/>
            </a:solidFill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17" name="Text 5"/>
          <p:cNvSpPr txBox="1"/>
          <p:nvPr/>
        </p:nvSpPr>
        <p:spPr>
          <a:xfrm>
            <a:off x="457200" y="932941"/>
            <a:ext cx="3840480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5EEAD4"/>
                </a:solidFill>
              </a:defRPr>
            </a:lvl1pPr>
          </a:lstStyle>
          <a:p>
            <a:pPr/>
            <a:r>
              <a:t>✅  Deliverables</a:t>
            </a:r>
          </a:p>
        </p:txBody>
      </p:sp>
      <p:sp>
        <p:nvSpPr>
          <p:cNvPr id="218" name="Text 6"/>
          <p:cNvSpPr txBox="1"/>
          <p:nvPr/>
        </p:nvSpPr>
        <p:spPr>
          <a:xfrm>
            <a:off x="502919" y="1423481"/>
            <a:ext cx="3749042" cy="170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F4F8"/>
                </a:solidFill>
              </a:defRPr>
            </a:lvl1pPr>
          </a:lstStyle>
          <a:p>
            <a:pPr/>
            <a:r>
              <a:t>✓  Public GitHub repo + README.md</a:t>
            </a:r>
          </a:p>
        </p:txBody>
      </p:sp>
      <p:sp>
        <p:nvSpPr>
          <p:cNvPr id="219" name="Text 7"/>
          <p:cNvSpPr txBox="1"/>
          <p:nvPr/>
        </p:nvSpPr>
        <p:spPr>
          <a:xfrm>
            <a:off x="502919" y="1853249"/>
            <a:ext cx="3749042" cy="170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F4F8"/>
                </a:solidFill>
              </a:defRPr>
            </a:lvl1pPr>
          </a:lstStyle>
          <a:p>
            <a:pPr/>
            <a:r>
              <a:t>✓  Swagger UI docs → PDF</a:t>
            </a:r>
          </a:p>
        </p:txBody>
      </p:sp>
      <p:sp>
        <p:nvSpPr>
          <p:cNvPr id="220" name="Text 8"/>
          <p:cNvSpPr txBox="1"/>
          <p:nvPr/>
        </p:nvSpPr>
        <p:spPr>
          <a:xfrm>
            <a:off x="502919" y="2283017"/>
            <a:ext cx="3749042" cy="170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F4F8"/>
                </a:solidFill>
              </a:defRPr>
            </a:lvl1pPr>
          </a:lstStyle>
          <a:p>
            <a:pPr/>
            <a:r>
              <a:t>✓  Technical Report (max 5 pages)</a:t>
            </a:r>
          </a:p>
        </p:txBody>
      </p:sp>
      <p:sp>
        <p:nvSpPr>
          <p:cNvPr id="221" name="Text 9"/>
          <p:cNvSpPr txBox="1"/>
          <p:nvPr/>
        </p:nvSpPr>
        <p:spPr>
          <a:xfrm>
            <a:off x="502919" y="2712785"/>
            <a:ext cx="3749042" cy="170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F4F8"/>
                </a:solidFill>
              </a:defRPr>
            </a:lvl1pPr>
          </a:lstStyle>
          <a:p>
            <a:pPr/>
            <a:r>
              <a:t>✓  Presentation slides (this deck)</a:t>
            </a:r>
          </a:p>
        </p:txBody>
      </p:sp>
      <p:sp>
        <p:nvSpPr>
          <p:cNvPr id="222" name="Text 10"/>
          <p:cNvSpPr txBox="1"/>
          <p:nvPr/>
        </p:nvSpPr>
        <p:spPr>
          <a:xfrm>
            <a:off x="502919" y="3142553"/>
            <a:ext cx="3749042" cy="170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F4F8"/>
                </a:solidFill>
              </a:defRPr>
            </a:lvl1pPr>
          </a:lstStyle>
          <a:p>
            <a:pPr/>
            <a:r>
              <a:t>✓  GenAI declaration + logs (appendix)</a:t>
            </a:r>
          </a:p>
        </p:txBody>
      </p:sp>
      <p:sp>
        <p:nvSpPr>
          <p:cNvPr id="223" name="Text 11"/>
          <p:cNvSpPr txBox="1"/>
          <p:nvPr/>
        </p:nvSpPr>
        <p:spPr>
          <a:xfrm>
            <a:off x="502919" y="3572321"/>
            <a:ext cx="3749042" cy="170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F0F4F8"/>
                </a:solidFill>
              </a:defRPr>
            </a:lvl1pPr>
          </a:lstStyle>
          <a:p>
            <a:pPr/>
            <a:r>
              <a:t>✓  Runnable code — tested locally</a:t>
            </a:r>
          </a:p>
        </p:txBody>
      </p:sp>
      <p:sp>
        <p:nvSpPr>
          <p:cNvPr id="224" name="Shape 12"/>
          <p:cNvSpPr/>
          <p:nvPr/>
        </p:nvSpPr>
        <p:spPr>
          <a:xfrm>
            <a:off x="4709159" y="822960"/>
            <a:ext cx="4114801" cy="1417321"/>
          </a:xfrm>
          <a:prstGeom prst="rect">
            <a:avLst/>
          </a:prstGeom>
          <a:solidFill>
            <a:srgbClr val="1B3A5C"/>
          </a:solidFill>
          <a:ln w="12700">
            <a:solidFill>
              <a:srgbClr val="EF4444"/>
            </a:solidFill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5" name="Text 13"/>
          <p:cNvSpPr txBox="1"/>
          <p:nvPr/>
        </p:nvSpPr>
        <p:spPr>
          <a:xfrm>
            <a:off x="4846320" y="923797"/>
            <a:ext cx="384048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EF4444"/>
                </a:solidFill>
              </a:defRPr>
            </a:lvl1pPr>
          </a:lstStyle>
          <a:p>
            <a:pPr/>
            <a:r>
              <a:t>⚠️  Limitations</a:t>
            </a:r>
          </a:p>
        </p:txBody>
      </p:sp>
      <p:sp>
        <p:nvSpPr>
          <p:cNvPr id="226" name="Text 14"/>
          <p:cNvSpPr txBox="1"/>
          <p:nvPr/>
        </p:nvSpPr>
        <p:spPr>
          <a:xfrm>
            <a:off x="4846320" y="1459406"/>
            <a:ext cx="3840481" cy="4644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>
                <a:solidFill>
                  <a:srgbClr val="F0F4F8"/>
                </a:solidFill>
              </a:defRPr>
            </a:pPr>
            <a:r>
              <a:t>• Sample exposure dataset only (CSV subset)</a:t>
            </a:r>
          </a:p>
          <a:p>
            <a:pPr>
              <a:defRPr sz="1100">
                <a:solidFill>
                  <a:srgbClr val="F0F4F8"/>
                </a:solidFill>
              </a:defRPr>
            </a:pP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• No authentication / user ownership</a:t>
            </a:r>
          </a:p>
        </p:txBody>
      </p:sp>
      <p:sp>
        <p:nvSpPr>
          <p:cNvPr id="227" name="Shape 15"/>
          <p:cNvSpPr/>
          <p:nvPr/>
        </p:nvSpPr>
        <p:spPr>
          <a:xfrm>
            <a:off x="4709159" y="2395728"/>
            <a:ext cx="4114801" cy="1673351"/>
          </a:xfrm>
          <a:prstGeom prst="rect">
            <a:avLst/>
          </a:prstGeom>
          <a:solidFill>
            <a:srgbClr val="1B3A5C"/>
          </a:solidFill>
          <a:ln w="12700">
            <a:solidFill>
              <a:srgbClr val="22C55E"/>
            </a:solidFill>
          </a:ln>
          <a:effectLst>
            <a:outerShdw sx="100000" sy="100000" kx="0" ky="0" algn="b" rotWithShape="0" blurRad="101600" dist="38100" dir="8100000">
              <a:srgbClr val="000000">
                <a:alpha val="12000"/>
              </a:srgbClr>
            </a:outerShdw>
          </a:effectLst>
        </p:spPr>
        <p:txBody>
          <a:bodyPr lIns="45719" rIns="45719"/>
          <a:lstStyle/>
          <a:p>
            <a:pPr/>
          </a:p>
        </p:txBody>
      </p:sp>
      <p:sp>
        <p:nvSpPr>
          <p:cNvPr id="228" name="Text 16"/>
          <p:cNvSpPr txBox="1"/>
          <p:nvPr/>
        </p:nvSpPr>
        <p:spPr>
          <a:xfrm>
            <a:off x="4846320" y="2496565"/>
            <a:ext cx="3840481" cy="292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22C55E"/>
                </a:solidFill>
              </a:defRPr>
            </a:lvl1pPr>
          </a:lstStyle>
          <a:p>
            <a:pPr/>
            <a:r>
              <a:t>🚀  Next Steps</a:t>
            </a:r>
          </a:p>
        </p:txBody>
      </p:sp>
      <p:sp>
        <p:nvSpPr>
          <p:cNvPr id="229" name="Text 17"/>
          <p:cNvSpPr txBox="1"/>
          <p:nvPr/>
        </p:nvSpPr>
        <p:spPr>
          <a:xfrm>
            <a:off x="4846320" y="2866566"/>
            <a:ext cx="3840481" cy="11248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100">
                <a:solidFill>
                  <a:srgbClr val="F0F4F8"/>
                </a:solidFill>
              </a:defRPr>
            </a:pPr>
            <a:r>
              <a:t>• Integrate full published AI exposure dataset</a:t>
            </a:r>
          </a:p>
          <a:p>
            <a:pPr>
              <a:defRPr sz="1100">
                <a:solidFill>
                  <a:srgbClr val="F0F4F8"/>
                </a:solidFill>
              </a:defRPr>
            </a:pP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• Normalise occupations into linked table</a:t>
            </a:r>
          </a:p>
          <a:p>
            <a:pPr>
              <a:defRPr sz="1100">
                <a:solidFill>
                  <a:srgbClr val="F0F4F8"/>
                </a:solidFill>
              </a:defRPr>
            </a:pP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• Add JWT authentication layer</a:t>
            </a:r>
          </a:p>
          <a:p>
            <a:pPr>
              <a:defRPr sz="1100">
                <a:solidFill>
                  <a:srgbClr val="F0F4F8"/>
                </a:solidFill>
              </a:defRPr>
            </a:pPr>
          </a:p>
          <a:p>
            <a:pPr>
              <a:defRPr sz="1100">
                <a:solidFill>
                  <a:srgbClr val="F0F4F8"/>
                </a:solidFill>
              </a:defRPr>
            </a:pPr>
            <a:r>
              <a:t>• Deploy to PythonAnywhere / Railway</a:t>
            </a:r>
          </a:p>
        </p:txBody>
      </p:sp>
      <p:sp>
        <p:nvSpPr>
          <p:cNvPr id="230" name="Shape 18"/>
          <p:cNvSpPr/>
          <p:nvPr/>
        </p:nvSpPr>
        <p:spPr>
          <a:xfrm>
            <a:off x="0" y="4343400"/>
            <a:ext cx="9144000" cy="800100"/>
          </a:xfrm>
          <a:prstGeom prst="rect">
            <a:avLst/>
          </a:prstGeom>
          <a:solidFill>
            <a:srgbClr val="0F7173"/>
          </a:solidFill>
          <a:ln w="12700">
            <a:solidFill>
              <a:srgbClr val="0F7173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1" name="Text 19"/>
          <p:cNvSpPr txBox="1"/>
          <p:nvPr/>
        </p:nvSpPr>
        <p:spPr>
          <a:xfrm>
            <a:off x="320040" y="4622799"/>
            <a:ext cx="5486401" cy="241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600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defRPr>
            </a:lvl1pPr>
          </a:lstStyle>
          <a:p>
            <a:pPr/>
            <a:r>
              <a:t>github.com/hasini08/ai-impact-api</a:t>
            </a:r>
          </a:p>
        </p:txBody>
      </p:sp>
      <p:sp>
        <p:nvSpPr>
          <p:cNvPr id="232" name="Text 20"/>
          <p:cNvSpPr txBox="1"/>
          <p:nvPr/>
        </p:nvSpPr>
        <p:spPr>
          <a:xfrm>
            <a:off x="5760720" y="4650171"/>
            <a:ext cx="3200401" cy="1865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r">
              <a:defRPr b="1" sz="1500">
                <a:solidFill>
                  <a:srgbClr val="0D1B2A"/>
                </a:solidFill>
              </a:defRPr>
            </a:lvl1pPr>
          </a:lstStyle>
          <a:p>
            <a:pPr/>
            <a:r>
              <a:t>Q&amp;A  →  Questions welcome!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